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C38-F04A-B91A-EF9A83B0200B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38-F04A-B91A-EF9A83B0200B}"/>
              </c:ext>
            </c:extLst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38-F04A-B91A-EF9A83B0200B}"/>
              </c:ext>
            </c:extLst>
          </c:dPt>
          <c:dPt>
            <c:idx val="3"/>
            <c:bubble3D val="0"/>
            <c:spPr>
              <a:solidFill>
                <a:srgbClr val="B9C7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C38-F04A-B91A-EF9A83B0200B}"/>
              </c:ext>
            </c:extLst>
          </c:dPt>
          <c:dPt>
            <c:idx val="4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C38-F04A-B91A-EF9A83B0200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ar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38-F04A-B91A-EF9A83B0200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ar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C38-F04A-B91A-EF9A83B0200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ar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C38-F04A-B91A-EF9A83B0200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ar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C38-F04A-B91A-EF9A83B0200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ar-SA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C38-F04A-B91A-EF9A83B0200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ar-SA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Human</c:v>
                </c:pt>
                <c:pt idx="1">
                  <c:v>ALLaM</c:v>
                </c:pt>
                <c:pt idx="2">
                  <c:v>JAIS</c:v>
                </c:pt>
                <c:pt idx="3">
                  <c:v>LLaMA</c:v>
                </c:pt>
                <c:pt idx="4">
                  <c:v>GPT-4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8388</c:v>
                </c:pt>
                <c:pt idx="1">
                  <c:v>8388</c:v>
                </c:pt>
                <c:pt idx="2">
                  <c:v>8388</c:v>
                </c:pt>
                <c:pt idx="3">
                  <c:v>8388</c:v>
                </c:pt>
                <c:pt idx="4">
                  <c:v>8388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C38-F04A-B91A-EF9A83B020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EB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Linear SVM</c:v>
                </c:pt>
                <c:pt idx="2">
                  <c:v>Random Forest</c:v>
                </c:pt>
                <c:pt idx="3">
                  <c:v>FFNN (MLP)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96.7</c:v>
                </c:pt>
                <c:pt idx="1">
                  <c:v>95.97</c:v>
                </c:pt>
                <c:pt idx="2">
                  <c:v>79.8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82-DB46-BB3D-6044862440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Linear SVM</c:v>
                </c:pt>
                <c:pt idx="2">
                  <c:v>Random Forest</c:v>
                </c:pt>
                <c:pt idx="3">
                  <c:v>FFNN (MLP)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96.71</c:v>
                </c:pt>
                <c:pt idx="1">
                  <c:v>96.04</c:v>
                </c:pt>
                <c:pt idx="2">
                  <c:v>70.84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82-DB46-BB3D-6044862440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Linear SVM</c:v>
                </c:pt>
                <c:pt idx="2">
                  <c:v>Random Forest</c:v>
                </c:pt>
                <c:pt idx="3">
                  <c:v>FFNN (MLP)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99.05</c:v>
                </c:pt>
                <c:pt idx="1">
                  <c:v>98.33</c:v>
                </c:pt>
                <c:pt idx="2">
                  <c:v>94.72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82-DB46-BB3D-6044862440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" sz="1200" b="0" i="0" u="none" strike="noStrike">
                <a:solidFill>
                  <a:srgbClr val="000000"/>
                </a:solidFill>
                <a:latin typeface="Arial"/>
              </a:rPr>
              <a:t>Random Forest Feature Importances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70-4E46-88A6-C9C98AEC4243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70-4E46-88A6-C9C98AEC4243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70-4E46-88A6-C9C98AEC4243}"/>
              </c:ext>
            </c:extLst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70-4E46-88A6-C9C98AEC4243}"/>
              </c:ext>
            </c:extLst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370-4E46-88A6-C9C98AEC4243}"/>
              </c:ext>
            </c:extLst>
          </c:dPt>
          <c:dPt>
            <c:idx val="5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370-4E46-88A6-C9C98AEC424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2B3E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f57 Top-50
Words</c:v>
                </c:pt>
                <c:pt idx="1">
                  <c:v>TF-IDF
#4211</c:v>
                </c:pt>
                <c:pt idx="2">
                  <c:v>TF-IDF
#1085</c:v>
                </c:pt>
                <c:pt idx="3">
                  <c:v>f15 Word
Len Var</c:v>
                </c:pt>
                <c:pt idx="4">
                  <c:v>f78
Perplexity</c:v>
                </c:pt>
                <c:pt idx="5">
                  <c:v>f36 Avg
S/P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5.3100000000000001E-2</c:v>
                </c:pt>
                <c:pt idx="1">
                  <c:v>3.9100000000000003E-2</c:v>
                </c:pt>
                <c:pt idx="2">
                  <c:v>3.3099999999999997E-2</c:v>
                </c:pt>
                <c:pt idx="3">
                  <c:v>1.7999999999999999E-2</c:v>
                </c:pt>
                <c:pt idx="4">
                  <c:v>1.4200000000000001E-2</c:v>
                </c:pt>
                <c:pt idx="5">
                  <c:v>9.7999999999999997E-3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370-4E46-88A6-C9C98AEC42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" sz="1200" b="0" i="0" u="none" strike="noStrike">
                <a:solidFill>
                  <a:srgbClr val="000000"/>
                </a:solidFill>
                <a:latin typeface="Arial"/>
              </a:rPr>
              <a:t>Human vs AI Feature Values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2B3E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TTR</c:v>
                </c:pt>
                <c:pt idx="1">
                  <c:v>Avg Length</c:v>
                </c:pt>
                <c:pt idx="2">
                  <c:v>f15 Variance</c:v>
                </c:pt>
                <c:pt idx="3">
                  <c:v>f78 Perplexity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0.75849999999999995</c:v>
                </c:pt>
                <c:pt idx="1">
                  <c:v>37.840000000000003</c:v>
                </c:pt>
                <c:pt idx="2">
                  <c:v>1.4390000000000001</c:v>
                </c:pt>
                <c:pt idx="3">
                  <c:v>5.7889999999999997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6F-AF44-9AAA-48D01D2129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2B3E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TTR</c:v>
                </c:pt>
                <c:pt idx="1">
                  <c:v>Avg Length</c:v>
                </c:pt>
                <c:pt idx="2">
                  <c:v>f15 Variance</c:v>
                </c:pt>
                <c:pt idx="3">
                  <c:v>f78 Perplexity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0.7248</c:v>
                </c:pt>
                <c:pt idx="1">
                  <c:v>33.32</c:v>
                </c:pt>
                <c:pt idx="2">
                  <c:v>1.1839999999999999</c:v>
                </c:pt>
                <c:pt idx="3">
                  <c:v>5.4969999999999999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6F-AF44-9AAA-48D01D2129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" sz="1200" b="0" i="0" u="none" strike="noStrike">
                <a:solidFill>
                  <a:srgbClr val="000000"/>
                </a:solidFill>
                <a:latin typeface="Arial"/>
              </a:rPr>
              <a:t>Batch Processing Time vs Cores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Processing Time (s)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65A82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Core</c:v>
                </c:pt>
                <c:pt idx="1">
                  <c:v>2 Cores</c:v>
                </c:pt>
                <c:pt idx="2">
                  <c:v>4 Cores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0.67</c:v>
                </c:pt>
                <c:pt idx="2">
                  <c:v>0.59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FBB-4945-9D63-66D4DEDDFF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F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7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Scalable Real-time Detection of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C39A"/>
                </a:solidFill>
              </a:rPr>
              <a:t>AI-Generated Arabic Text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A Distributed Big Data Pipeline Approach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4572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Laila Abdullah Al-Mohaymid  |  ID: 4725094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7FA5"/>
                </a:solidFill>
              </a:rPr>
              <a:t>MSBDA-801 Big Data Analytics  |  Final Project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 &amp; Motivation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</a:rPr>
              <a:t>Why does Arabic AI text detection matter?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64008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400M+ speakers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Arabic is one of the world's largest languages — yet dedicated AI detection tools remain scarce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7432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Shape 8"/>
          <p:cNvSpPr/>
          <p:nvPr/>
        </p:nvSpPr>
        <p:spPr>
          <a:xfrm>
            <a:off x="274320" y="2743200"/>
            <a:ext cx="64008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4 LLMs tested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0906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ALLaM, JAIS, LLaMA 3.1 &amp; GPT-4 all produce high-quality Arabic that bypasses plagiarism checks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64008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Real-time need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7190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Academic institutions need instant, scalable detection — not batch-only tools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11480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64008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/>
          <p:nvPr/>
        </p:nvSpPr>
        <p:spPr>
          <a:xfrm>
            <a:off x="489204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Big Data gap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09067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No prior work addresses Arabic detection at distributed scale with live stream processing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</a:rPr>
              <a:t>This project fills all four gaps in a single end-to-end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Dataset: KFUPM-JRCAI/arabic-generated-abstracts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41,940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Total Samples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201168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2423160" y="896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8,388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23160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Human Texts (20%)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201168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4572000" y="896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33,552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0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AI Texts (80%)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822960"/>
            <a:ext cx="2011680" cy="1097280"/>
          </a:xfrm>
          <a:prstGeom prst="rect">
            <a:avLst/>
          </a:prstGeom>
          <a:solidFill>
            <a:srgbClr val="B8C74F"/>
          </a:solidFill>
          <a:ln w="12700">
            <a:solidFill>
              <a:srgbClr val="B8C74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6720840" y="8961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720840" y="14813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LLM Sources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Three Generation Strategies: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50292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64008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/>
          <p:nvPr/>
        </p:nvSpPr>
        <p:spPr>
          <a:xfrm>
            <a:off x="411480" y="2560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by_polishing (2,851)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862072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</a:rPr>
              <a:t>LLM refines an existing human abstract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337560"/>
            <a:ext cx="50292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64008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3" name="Text 21"/>
          <p:cNvSpPr/>
          <p:nvPr/>
        </p:nvSpPr>
        <p:spPr>
          <a:xfrm>
            <a:off x="41148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from_title (2,963)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685032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</a:rPr>
              <a:t>LLM generates abstract from paper title only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160520"/>
            <a:ext cx="502920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6" name="Shape 24"/>
          <p:cNvSpPr/>
          <p:nvPr/>
        </p:nvSpPr>
        <p:spPr>
          <a:xfrm>
            <a:off x="274320" y="4160520"/>
            <a:ext cx="64008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7" name="Text 25"/>
          <p:cNvSpPr/>
          <p:nvPr/>
        </p:nvSpPr>
        <p:spPr>
          <a:xfrm>
            <a:off x="411480" y="4206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from_title_and_content (2,574)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" y="4507992"/>
            <a:ext cx="4846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</a:rPr>
              <a:t>LLM uses title + full paper content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2194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Sources: ALLaM · JAIS · LLaMA 3.1 · GPT-4</a:t>
            </a:r>
            <a:endParaRPr lang="en-US" sz="12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5486400" y="2606040"/>
          <a:ext cx="33832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Architecture — Lambda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17830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182880" y="8229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Ingestion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84248" y="1234440"/>
            <a:ext cx="274320" cy="1828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2103120" y="822960"/>
            <a:ext cx="178308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2103120" y="8229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Preprocessing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04488" y="1234440"/>
            <a:ext cx="274320" cy="1828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" name="Shape 8"/>
          <p:cNvSpPr/>
          <p:nvPr/>
        </p:nvSpPr>
        <p:spPr>
          <a:xfrm>
            <a:off x="4023360" y="822960"/>
            <a:ext cx="178308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4023360" y="8229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Features + 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24728" y="1234440"/>
            <a:ext cx="274320" cy="1828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Shape 11"/>
          <p:cNvSpPr/>
          <p:nvPr/>
        </p:nvSpPr>
        <p:spPr>
          <a:xfrm>
            <a:off x="5943600" y="822960"/>
            <a:ext cx="178308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5943600" y="8229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Kafka Stream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44968" y="1234440"/>
            <a:ext cx="274320" cy="1828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Shape 14"/>
          <p:cNvSpPr/>
          <p:nvPr/>
        </p:nvSpPr>
        <p:spPr>
          <a:xfrm>
            <a:off x="7863840" y="822960"/>
            <a:ext cx="1783080" cy="1005840"/>
          </a:xfrm>
          <a:prstGeom prst="rect">
            <a:avLst/>
          </a:prstGeom>
          <a:solidFill>
            <a:srgbClr val="F3722C"/>
          </a:solidFill>
          <a:ln w="12700">
            <a:solidFill>
              <a:srgbClr val="F3722C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Text 15"/>
          <p:cNvSpPr/>
          <p:nvPr/>
        </p:nvSpPr>
        <p:spPr>
          <a:xfrm>
            <a:off x="7863840" y="8229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1965960"/>
            <a:ext cx="17830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9" name="Shape 17"/>
          <p:cNvSpPr/>
          <p:nvPr/>
        </p:nvSpPr>
        <p:spPr>
          <a:xfrm>
            <a:off x="182880" y="1965960"/>
            <a:ext cx="64008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32004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HuggingFace → HDFS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313432"/>
            <a:ext cx="1600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Parquet (Snappy)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22MB raw data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03120" y="1965960"/>
            <a:ext cx="17830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3" name="Shape 21"/>
          <p:cNvSpPr/>
          <p:nvPr/>
        </p:nvSpPr>
        <p:spPr>
          <a:xfrm>
            <a:off x="2103120" y="1965960"/>
            <a:ext cx="64008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4" name="Text 22"/>
          <p:cNvSpPr/>
          <p:nvPr/>
        </p:nvSpPr>
        <p:spPr>
          <a:xfrm>
            <a:off x="224028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Spark UDFs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40280" y="2313432"/>
            <a:ext cx="1600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Diacritics, normalize,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stopwords, ISRI stem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0" y="1965960"/>
            <a:ext cx="17830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7" name="Shape 25"/>
          <p:cNvSpPr/>
          <p:nvPr/>
        </p:nvSpPr>
        <p:spPr>
          <a:xfrm>
            <a:off x="4023360" y="1965960"/>
            <a:ext cx="64008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8" name="Text 26"/>
          <p:cNvSpPr/>
          <p:nvPr/>
        </p:nvSpPr>
        <p:spPr>
          <a:xfrm>
            <a:off x="416052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f15·f36·f57·f78 + TF-IDF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0520" y="2313432"/>
            <a:ext cx="1600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5,004-dim vector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LR · RF · SVM · FFNN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1965960"/>
            <a:ext cx="17830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1" name="Shape 29"/>
          <p:cNvSpPr/>
          <p:nvPr/>
        </p:nvSpPr>
        <p:spPr>
          <a:xfrm>
            <a:off x="5943600" y="1965960"/>
            <a:ext cx="64008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2" name="Text 30"/>
          <p:cNvSpPr/>
          <p:nvPr/>
        </p:nvSpPr>
        <p:spPr>
          <a:xfrm>
            <a:off x="608076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Kafka + Structured Stream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2313432"/>
            <a:ext cx="1600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100 msgs/90s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&lt;0.5s latency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63840" y="1965960"/>
            <a:ext cx="17830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5" name="Shape 33"/>
          <p:cNvSpPr/>
          <p:nvPr/>
        </p:nvSpPr>
        <p:spPr>
          <a:xfrm>
            <a:off x="7863840" y="1965960"/>
            <a:ext cx="64008" cy="2560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8001000" y="2011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Evaluation + Report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01000" y="2313432"/>
            <a:ext cx="1600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4 models compared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Scalability benchmark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2880" y="4663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7FA5"/>
                </a:solidFill>
              </a:rPr>
              <a:t>MapReduce Jobs: Word Count (72K tokens) + Bigram Frequency (top: 'hadaf daras' 11,624)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Stylometric Feature Engineering  (i=15, n=21)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7FA5"/>
                </a:solidFill>
              </a:rPr>
              <a:t>Formula: f_(k×21+15) for k=0,1,2,3  →  Features at indices 15, 36, 57, 78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182880" y="1234440"/>
            <a:ext cx="502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182880" y="12344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28016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Word Length-Frequency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Distribution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7373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Human: 1.439   AI: 1.184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03911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</a:rPr>
              <a:t>Human text has wider word-length spread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83464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2" name="Shape 10"/>
          <p:cNvSpPr/>
          <p:nvPr/>
        </p:nvSpPr>
        <p:spPr>
          <a:xfrm>
            <a:off x="182880" y="2834640"/>
            <a:ext cx="502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/>
          <p:nvPr/>
        </p:nvSpPr>
        <p:spPr>
          <a:xfrm>
            <a:off x="182880" y="28346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f36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88036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Avg Sentences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per Paragraph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3375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Human: 9.504   AI: 8.576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63931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</a:rPr>
              <a:t>Human abstracts are structurally denser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23444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502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/>
          <p:nvPr/>
        </p:nvSpPr>
        <p:spPr>
          <a:xfrm>
            <a:off x="4663440" y="12344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f57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30368" y="128016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Top-50 Embedding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Words Count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30368" y="17373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Human: 6.84   AI: 10.15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30368" y="203911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</a:rPr>
              <a:t>AI overuses high-frequency vocabulary (+48%)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4206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4" name="Shape 22"/>
          <p:cNvSpPr/>
          <p:nvPr/>
        </p:nvSpPr>
        <p:spPr>
          <a:xfrm>
            <a:off x="4663440" y="2834640"/>
            <a:ext cx="50292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5" name="Text 23"/>
          <p:cNvSpPr/>
          <p:nvPr/>
        </p:nvSpPr>
        <p:spPr>
          <a:xfrm>
            <a:off x="4663440" y="2834640"/>
            <a:ext cx="502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f78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0368" y="288036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Perplexity Score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</a:rPr>
              <a:t>(entropy-based)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30368" y="33375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Human: 5.789   AI: 5.497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3639312"/>
            <a:ext cx="3547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</a:rPr>
              <a:t>Human text is less predictable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443484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</a:rPr>
              <a:t>Advanced Feature: TF-IDF via Spark MLlib · HashingTF + IDF · 5,000 features · unigram+bigram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 Performance Results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77724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777240"/>
          <a:ext cx="3566160" cy="221284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AUC-ROC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Logistic Reg. ★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96.70%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96.71%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99.05%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Linear SVM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95.97%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96.04%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98.33%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79.80%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70.84%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94.72%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FFNN (MLP)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TBD*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TBD*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TBD*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394960" y="3063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7FA5"/>
                </a:solidFill>
              </a:rPr>
              <a:t>★ Best model — saved to HDFS for deployment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9496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7FA5"/>
                </a:solidFill>
              </a:rPr>
              <a:t>* FFNN (MLP) training in progress at submission time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82880" y="42062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B3E"/>
                </a:solidFill>
              </a:rPr>
              <a:t>RF failure: predicts all samples as 'human' due to class imbalance + sparse TF-IDF — future fix: class weighting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Importance &amp; Vocabulary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777240"/>
          <a:ext cx="48463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212080" y="777240"/>
          <a:ext cx="37490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182880" y="384048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B3E"/>
                </a:solidFill>
              </a:rPr>
              <a:t>Key insight: f57 (Top-50 Embedding Words) is the #1 stylometric predictor — AI texts use 48% more high-frequency words than human texts.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Scalability Benchmark &amp; Stream Processing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7772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868680"/>
            <a:ext cx="2011680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Text 3"/>
          <p:cNvSpPr/>
          <p:nvPr/>
        </p:nvSpPr>
        <p:spPr>
          <a:xfrm>
            <a:off x="4572000" y="9418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3.73x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0" y="1527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Speedup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1→2 Cores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766560" y="868680"/>
            <a:ext cx="2011680" cy="1097280"/>
          </a:xfrm>
          <a:prstGeom prst="rect">
            <a:avLst/>
          </a:prstGeom>
          <a:solidFill>
            <a:srgbClr val="01C39A"/>
          </a:solidFill>
          <a:ln w="12700">
            <a:solidFill>
              <a:srgbClr val="01C39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" name="Text 6"/>
          <p:cNvSpPr/>
          <p:nvPr/>
        </p:nvSpPr>
        <p:spPr>
          <a:xfrm>
            <a:off x="6766560" y="94183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4.24x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766560" y="15270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Speedup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1→4 Cores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0" y="2148840"/>
            <a:ext cx="4297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2" name="Shape 9"/>
          <p:cNvSpPr/>
          <p:nvPr/>
        </p:nvSpPr>
        <p:spPr>
          <a:xfrm>
            <a:off x="4572000" y="2148840"/>
            <a:ext cx="64008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Text 10"/>
          <p:cNvSpPr/>
          <p:nvPr/>
        </p:nvSpPr>
        <p:spPr>
          <a:xfrm>
            <a:off x="470916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Kafka Streaming Results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70916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100 messages processed in 90 seconds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Average latency: ~0.5s per micro-batch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Zero message loss across the full run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0" y="3154680"/>
            <a:ext cx="4297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6" name="Shape 13"/>
          <p:cNvSpPr/>
          <p:nvPr/>
        </p:nvSpPr>
        <p:spPr>
          <a:xfrm>
            <a:off x="4572000" y="3154680"/>
            <a:ext cx="64008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Text 14"/>
          <p:cNvSpPr/>
          <p:nvPr/>
        </p:nvSpPr>
        <p:spPr>
          <a:xfrm>
            <a:off x="470916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Batch vs. Stream Trade-off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09160" y="35021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Batch: full model accuracy, high throughput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Stream: real-time detection, simplified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2B3E"/>
                </a:solidFill>
              </a:rPr>
              <a:t>Lambda Architecture unifies both layers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82880" y="37490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7FA5"/>
                </a:solidFill>
              </a:rPr>
              <a:t>Diminishing returns at 4 cores suggests I/O bottleneck — consistent with single-node HDFS setup.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8046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96.7% accuracy + 99.0% AUC-ROC — Logistic Regression with TF-IDF + stylometric features is highly effective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f57 (Top-50 Embedding Words) is the strongest stylometric predictor — AI texts use 48% more common vocab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9"/>
          <p:cNvSpPr/>
          <p:nvPr/>
        </p:nvSpPr>
        <p:spPr>
          <a:xfrm>
            <a:off x="274320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30428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Human Arabic text is consistently richer in TTR, length, and word-length variance than AI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274320" y="3054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05409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4.24x speedup from 1→4 cores validates the distributed Spark 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03904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Text 15"/>
          <p:cNvSpPr/>
          <p:nvPr/>
        </p:nvSpPr>
        <p:spPr>
          <a:xfrm>
            <a:off x="274320" y="3803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80390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Kafka pipeline processes 100 real-time Arabic texts at sub-second latency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4526280"/>
            <a:ext cx="87782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20" name="Text 18"/>
          <p:cNvSpPr/>
          <p:nvPr/>
        </p:nvSpPr>
        <p:spPr>
          <a:xfrm>
            <a:off x="182880" y="45262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Future: Multi-node cluster · AraBERT fine-tuning · Class weighting for RF · Social media domain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 &amp; Project Repository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[1] Al-Shaibani &amp; Ahmed (2025). The Arabic AI Fingerprint. arXiv:2505.23276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12435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[2] Mitchell et al. (2023). DetectGPT: Zero-Shot AI Text Detection. ICML 2023. arXiv:2301.11305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68249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[3] Meng et al. (2016). MLlib: Machine Learning in Apache Spark. JMLR 17(34). arXiv:1505.06807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1214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[4] Kiran et al. (2015). Lambda Architecture for Big Data Processing. IEEE Big Data 2015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[5] Kocaman &amp; Talby (2021). Spark NLP: NLU at Scale. Software Impacts. arXiv:2101.10848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9992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[6] Zaharia et al. (2012). Resilient Distributed Datasets. USENIX NSDI 2012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343814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[7] Kreps et al. (2011). Kafka: A Distributed Messaging System. NetDB @ SIGMOD 2011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38770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[8] Kumarage et al. (2023). Stylometric Detection of AI-Generated Text. arXiv:2303.03697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431596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B3E"/>
                </a:solidFill>
              </a:rPr>
              <a:t>[9] Taghva et al. (2005). Arabic Stemming without a Root Dictionary. IEEE ITCC 2005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804672"/>
            <a:ext cx="3017520" cy="25603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5943600" y="868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 Repository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1353312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github.com/LailaAbdullah/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</a:rPr>
              <a:t>Arabic-AI-Detection-BigData-Pipeline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35040" y="21488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Environment: CentOS Linux · Spark 3.5.1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Hadoop 3.x (HDFS) · Kafka 3.7.0 · Python 3.12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3474720"/>
            <a:ext cx="301752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5943600" y="3520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Pipeline Files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8862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src/data_acquisition.py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35040" y="4087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src/preprocessing.py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35040" y="42885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src/feature_engineering.py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35040" y="44897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src/modeling.py  ·  src/ffnn_spark.py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46908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src/streaming_pipeline.py  ·  src/kafka_producer.py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1016</Words>
  <Application>Microsoft Macintosh PowerPoint</Application>
  <PresentationFormat>عرض على الشاشة (16:9)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AI Text Detection Pipeline</dc:title>
  <dc:subject>PptxGenJS Presentation</dc:subject>
  <dc:creator>Laila Abdullah Al-Mohaymid</dc:creator>
  <cp:lastModifiedBy>LAILA,ABDULLAH,MOHAMMED,ALMOHAYMID</cp:lastModifiedBy>
  <cp:revision>2</cp:revision>
  <dcterms:created xsi:type="dcterms:W3CDTF">2026-05-20T19:06:59Z</dcterms:created>
  <dcterms:modified xsi:type="dcterms:W3CDTF">2026-05-20T19:11:49Z</dcterms:modified>
</cp:coreProperties>
</file>