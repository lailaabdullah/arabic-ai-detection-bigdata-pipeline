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Distribution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bubble3D val="0"/>
            <c:spPr>
              <a:solidFill>
                <a:srgbClr val="02C39A"/>
              </a:solidFill>
              <a:effectLst/>
            </c:spPr>
          </c:dPt>
          <c:dPt>
            <c:idx val="3"/>
            <c:bubble3D val="0"/>
            <c:spPr>
              <a:solidFill>
                <a:srgbClr val="B9C74F"/>
              </a:solidFill>
              <a:effectLst/>
            </c:spPr>
          </c:dPt>
          <c:dPt>
            <c:idx val="4"/>
            <c:bubble3D val="0"/>
            <c:spPr>
              <a:solidFill>
                <a:srgbClr val="E6394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Human</c:v>
                </c:pt>
                <c:pt idx="1">
                  <c:v>ALLaM</c:v>
                </c:pt>
                <c:pt idx="2">
                  <c:v>JAIS</c:v>
                </c:pt>
                <c:pt idx="3">
                  <c:v>LLaMA</c:v>
                </c:pt>
                <c:pt idx="4">
                  <c:v>GPT-4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8388</c:v>
                </c:pt>
                <c:pt idx="1">
                  <c:v>8388</c:v>
                </c:pt>
                <c:pt idx="2">
                  <c:v>8388</c:v>
                </c:pt>
                <c:pt idx="3">
                  <c:v>8388</c:v>
                </c:pt>
                <c:pt idx="4">
                  <c:v>8388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solidFill>
      <a:srgbClr val="EBF4F8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Logistic Reg.</c:v>
                  </c:pt>
                  <c:pt idx="1">
                    <c:v>Linear SVM</c:v>
                  </c:pt>
                  <c:pt idx="2">
                    <c:v>Random Forest</c:v>
                  </c:pt>
                  <c:pt idx="3">
                    <c:v>FFNN (MLP)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96.7</c:v>
                </c:pt>
                <c:pt idx="1">
                  <c:v>95.97</c:v>
                </c:pt>
                <c:pt idx="2">
                  <c:v>79.8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F1-Score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Logistic Reg.</c:v>
                  </c:pt>
                  <c:pt idx="1">
                    <c:v>Linear SVM</c:v>
                  </c:pt>
                  <c:pt idx="2">
                    <c:v>Random Forest</c:v>
                  </c:pt>
                  <c:pt idx="3">
                    <c:v>FFNN (MLP)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96.71</c:v>
                </c:pt>
                <c:pt idx="1">
                  <c:v>96.04</c:v>
                </c:pt>
                <c:pt idx="2">
                  <c:v>70.84</c:v>
                </c:pt>
                <c:pt idx="3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AUC-ROC</c:v>
                </c:pt>
              </c:strCache>
            </c:strRef>
          </c:tx>
          <c:spPr>
            <a:solidFill>
              <a:srgbClr val="02C3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Logistic Reg.</c:v>
                  </c:pt>
                  <c:pt idx="1">
                    <c:v>Linear SVM</c:v>
                  </c:pt>
                  <c:pt idx="2">
                    <c:v>Random Forest</c:v>
                  </c:pt>
                  <c:pt idx="3">
                    <c:v>FFNN (MLP)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99.05</c:v>
                </c:pt>
                <c:pt idx="1">
                  <c:v>98.33</c:v>
                </c:pt>
                <c:pt idx="2">
                  <c:v>94.72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7FA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6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7FA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200" b="0" i="0" u="none" strike="noStrike">
                <a:solidFill>
                  <a:srgbClr val="000000"/>
                </a:solidFill>
                <a:latin typeface="Arial"/>
              </a:rPr>
              <a:t>Random Forest Feature Importances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Importance</c:v>
                </c:pt>
              </c:strCache>
            </c:strRef>
          </c:tx>
          <c:spPr>
            <a:solidFill>
              <a:srgbClr val="02C3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D2B3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2C39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f57 Top-50
Words</c:v>
                  </c:pt>
                  <c:pt idx="1">
                    <c:v>TF-IDF
#4211</c:v>
                  </c:pt>
                  <c:pt idx="2">
                    <c:v>TF-IDF
#1085</c:v>
                  </c:pt>
                  <c:pt idx="3">
                    <c:v>f15 Word
Len Var</c:v>
                  </c:pt>
                  <c:pt idx="4">
                    <c:v>f78
Perplexity</c:v>
                  </c:pt>
                  <c:pt idx="5">
                    <c:v>f36 Avg
S/P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0.0531</c:v>
                </c:pt>
                <c:pt idx="1">
                  <c:v>0.0391</c:v>
                </c:pt>
                <c:pt idx="2">
                  <c:v>0.0331</c:v>
                </c:pt>
                <c:pt idx="3">
                  <c:v>0.018</c:v>
                </c:pt>
                <c:pt idx="4">
                  <c:v>0.0142</c:v>
                </c:pt>
                <c:pt idx="5">
                  <c:v>0.0098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D2B3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7FA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7FA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200" b="0" i="0" u="none" strike="noStrike">
                <a:solidFill>
                  <a:srgbClr val="000000"/>
                </a:solidFill>
                <a:latin typeface="Arial"/>
              </a:rPr>
              <a:t>Human vs AI Feature Values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Human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D2B3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TTR</c:v>
                  </c:pt>
                  <c:pt idx="1">
                    <c:v>Avg Length</c:v>
                  </c:pt>
                  <c:pt idx="2">
                    <c:v>f15 Variance</c:v>
                  </c:pt>
                  <c:pt idx="3">
                    <c:v>f78 Perplexity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0.7585</c:v>
                </c:pt>
                <c:pt idx="1">
                  <c:v>37.84</c:v>
                </c:pt>
                <c:pt idx="2">
                  <c:v>1.439</c:v>
                </c:pt>
                <c:pt idx="3">
                  <c:v>5.789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02C3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D2B3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TTR</c:v>
                  </c:pt>
                  <c:pt idx="1">
                    <c:v>Avg Length</c:v>
                  </c:pt>
                  <c:pt idx="2">
                    <c:v>f15 Variance</c:v>
                  </c:pt>
                  <c:pt idx="3">
                    <c:v>f78 Perplexity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0.7248</c:v>
                </c:pt>
                <c:pt idx="1">
                  <c:v>33.32</c:v>
                </c:pt>
                <c:pt idx="2">
                  <c:v>1.184</c:v>
                </c:pt>
                <c:pt idx="3">
                  <c:v>5.497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D2B3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7FA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7FA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200" b="0" i="0" u="none" strike="noStrike">
                <a:solidFill>
                  <a:srgbClr val="000000"/>
                </a:solidFill>
                <a:latin typeface="Arial"/>
              </a:rPr>
              <a:t>Batch Processing Time vs Cores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Processing Time (s)</c:v>
                </c:pt>
              </c:strCache>
            </c:strRef>
          </c:tx>
          <c:spPr>
            <a:solidFill>
              <a:srgbClr val="065A82"/>
            </a:solidFill>
            <a:ln w="38100" cap="flat">
              <a:solidFill>
                <a:srgbClr val="065A8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65A8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65A82"/>
              </a:solidFill>
              <a:ln w="9525" cap="flat">
                <a:solidFill>
                  <a:srgbClr val="065A8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1 Core</c:v>
                  </c:pt>
                  <c:pt idx="1">
                    <c:v>2 Cores</c:v>
                  </c:pt>
                  <c:pt idx="2">
                    <c:v>4 Cores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2.5</c:v>
                </c:pt>
                <c:pt idx="1">
                  <c:v>0.67</c:v>
                </c:pt>
                <c:pt idx="2">
                  <c:v>0.59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65A8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7FA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7FA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5A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474720"/>
            <a:ext cx="9144000" cy="1668780"/>
          </a:xfrm>
          <a:prstGeom prst="rect">
            <a:avLst/>
          </a:prstGeom>
          <a:solidFill>
            <a:srgbClr val="021B2E"/>
          </a:solidFill>
          <a:ln w="12700">
            <a:solidFill>
              <a:srgbClr val="021B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Scalable Real-time Detection of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2C39A"/>
                </a:solidFill>
              </a:rPr>
              <a:t>AI-Generated Arabic Text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1920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</a:rPr>
              <a:t>A Distributed Big Data Pipeline Approach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200400" y="2606040"/>
            <a:ext cx="2743200" cy="45720"/>
          </a:xfrm>
          <a:prstGeom prst="rect">
            <a:avLst/>
          </a:prstGeom>
          <a:solidFill>
            <a:srgbClr val="F9C74F"/>
          </a:solidFill>
          <a:ln w="12700">
            <a:solidFill>
              <a:srgbClr val="F9C7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3566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Laila Abdullah Al-Mohaymid  |  ID: 4725094  |  Position: 15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39776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7FA5"/>
                </a:solidFill>
              </a:rPr>
              <a:t>MSBDA-801 Big Data Analytics  |  Final Project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9C74F"/>
                </a:solidFill>
              </a:rPr>
              <a:t>Assigned Features: f15 · f36 · f57 · f78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B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Problem Statement &amp; Motivation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</a:rPr>
              <a:t>Why does Arabic AI text detection matter?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274320" y="1371600"/>
            <a:ext cx="411480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1371600"/>
            <a:ext cx="64008" cy="11887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4173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</a:rPr>
              <a:t>400M+ speakers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11480" y="1719072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2B3E"/>
                </a:solidFill>
              </a:rPr>
              <a:t>Arabic is one of the world's largest languages — yet dedicated AI detection tools remain scarce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2743200"/>
            <a:ext cx="411480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2743200"/>
            <a:ext cx="64008" cy="11887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27889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</a:rPr>
              <a:t>4 LLMs tested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11480" y="3090672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2B3E"/>
                </a:solidFill>
              </a:rPr>
              <a:t>ALLaM, JAIS, LLaMA 3.1 &amp; GPT-4 all produce high-quality Arabic that bypasses plagiarism checks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54880" y="1371600"/>
            <a:ext cx="411480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54880" y="1371600"/>
            <a:ext cx="64008" cy="11887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92040" y="14173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</a:rPr>
              <a:t>Real-time need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892040" y="1719072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2B3E"/>
                </a:solidFill>
              </a:rPr>
              <a:t>Academic institutions need instant, scalable detection — not batch-only tools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754880" y="2743200"/>
            <a:ext cx="411480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2743200"/>
            <a:ext cx="64008" cy="11887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92040" y="27889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</a:rPr>
              <a:t>Big Data gap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892040" y="3090672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2B3E"/>
                </a:solidFill>
              </a:rPr>
              <a:t>No prior work addresses Arabic detection at distributed scale with live stream processing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74320" y="416052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7293"/>
                </a:solidFill>
              </a:rPr>
              <a:t>This project fills all four gaps in a single end-to-end pipeline.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B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Dataset: KFUPM-JRCAI/arabic-generated-abstracts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2011680" cy="10972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896112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41,940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274320" y="1481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Total Samples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423160" y="822960"/>
            <a:ext cx="2011680" cy="10972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23160" y="896112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8,388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2423160" y="1481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Human Texts (20%)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0" y="822960"/>
            <a:ext cx="2011680" cy="10972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0" y="896112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33,552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4572000" y="1481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AI Texts (80%)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720840" y="822960"/>
            <a:ext cx="2011680" cy="1097280"/>
          </a:xfrm>
          <a:prstGeom prst="rect">
            <a:avLst/>
          </a:prstGeom>
          <a:solidFill>
            <a:srgbClr val="B8C74F"/>
          </a:solidFill>
          <a:ln w="12700">
            <a:solidFill>
              <a:srgbClr val="B8C74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20840" y="896112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4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6720840" y="1481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LLM Sources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74320" y="21031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</a:rPr>
              <a:t>Three Generation Strategies: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74320" y="2514600"/>
            <a:ext cx="5029200" cy="7498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74320" y="2514600"/>
            <a:ext cx="64008" cy="749808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11480" y="25603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</a:rPr>
              <a:t>by_polishing (2,851)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11480" y="2862072"/>
            <a:ext cx="48463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2B3E"/>
                </a:solidFill>
              </a:rPr>
              <a:t>LLM refines an existing human abstract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4320" y="3337560"/>
            <a:ext cx="5029200" cy="7498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4320" y="3337560"/>
            <a:ext cx="64008" cy="749808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1480" y="338328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</a:rPr>
              <a:t>from_title (2,963)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11480" y="3685032"/>
            <a:ext cx="48463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2B3E"/>
                </a:solidFill>
              </a:rPr>
              <a:t>LLM generates abstract from paper title only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74320" y="4160520"/>
            <a:ext cx="5029200" cy="7498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274320" y="4160520"/>
            <a:ext cx="64008" cy="749808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" y="42062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</a:rPr>
              <a:t>from_title_and_content (2,574)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11480" y="4507992"/>
            <a:ext cx="48463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2B3E"/>
                </a:solidFill>
              </a:rPr>
              <a:t>LLM uses title + full paper content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486400" y="21945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</a:rPr>
              <a:t>Sources: ALLaM · JAIS · LLaMA 3.1 · GPT-4</a:t>
            </a:r>
            <a:endParaRPr lang="en-US" sz="1200" dirty="0"/>
          </a:p>
        </p:txBody>
      </p:sp>
      <p:graphicFrame>
        <p:nvGraphicFramePr>
          <p:cNvPr id="30" name="Chart 0" descr=""/>
          <p:cNvGraphicFramePr/>
          <p:nvPr/>
        </p:nvGraphicFramePr>
        <p:xfrm>
          <a:off x="5486400" y="2606040"/>
          <a:ext cx="3383280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B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Pipeline Architecture — Lambda Architecture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82880" y="822960"/>
            <a:ext cx="1783080" cy="10058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82880" y="822960"/>
            <a:ext cx="1783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Phase 1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Data Ingestion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984248" y="1234440"/>
            <a:ext cx="274320" cy="182880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103120" y="822960"/>
            <a:ext cx="1783080" cy="10058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03120" y="822960"/>
            <a:ext cx="1783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Phase 2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Preprocessing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904488" y="1234440"/>
            <a:ext cx="274320" cy="182880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023360" y="822960"/>
            <a:ext cx="1783080" cy="10058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023360" y="822960"/>
            <a:ext cx="1783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Phase 3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Features + ML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824728" y="1234440"/>
            <a:ext cx="274320" cy="182880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943600" y="822960"/>
            <a:ext cx="1783080" cy="100584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0" y="822960"/>
            <a:ext cx="1783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Phase 4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Kafka Stream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744968" y="1234440"/>
            <a:ext cx="274320" cy="182880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63840" y="822960"/>
            <a:ext cx="1783080" cy="1005840"/>
          </a:xfrm>
          <a:prstGeom prst="rect">
            <a:avLst/>
          </a:prstGeom>
          <a:solidFill>
            <a:srgbClr val="F3722C"/>
          </a:solidFill>
          <a:ln w="12700">
            <a:solidFill>
              <a:srgbClr val="F3722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863840" y="822960"/>
            <a:ext cx="1783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Phase 5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Analysis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82880" y="1965960"/>
            <a:ext cx="178308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182880" y="1965960"/>
            <a:ext cx="64008" cy="25603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0040" y="201168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5A82"/>
                </a:solidFill>
              </a:rPr>
              <a:t>HuggingFace → HDFS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20040" y="2313432"/>
            <a:ext cx="16002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D2B3E"/>
                </a:solidFill>
              </a:rPr>
              <a:t>Parquet (Snappy)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D2B3E"/>
                </a:solidFill>
              </a:rPr>
              <a:t>22MB raw data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103120" y="1965960"/>
            <a:ext cx="178308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2103120" y="1965960"/>
            <a:ext cx="64008" cy="25603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40280" y="201168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5A82"/>
                </a:solidFill>
              </a:rPr>
              <a:t>Spark UDFs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240280" y="2313432"/>
            <a:ext cx="16002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D2B3E"/>
                </a:solidFill>
              </a:rPr>
              <a:t>Diacritics, normalize,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D2B3E"/>
                </a:solidFill>
              </a:rPr>
              <a:t>stopwords, ISRI stem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023360" y="1965960"/>
            <a:ext cx="178308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023360" y="1965960"/>
            <a:ext cx="64008" cy="25603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60520" y="201168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5A82"/>
                </a:solidFill>
              </a:rPr>
              <a:t>f15·f36·f57·f78 + TF-IDF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160520" y="2313432"/>
            <a:ext cx="16002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D2B3E"/>
                </a:solidFill>
              </a:rPr>
              <a:t>5,004-dim vector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D2B3E"/>
                </a:solidFill>
              </a:rPr>
              <a:t>LR · RF · SVM · FFNN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943600" y="1965960"/>
            <a:ext cx="178308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5943600" y="1965960"/>
            <a:ext cx="64008" cy="25603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80760" y="201168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5A82"/>
                </a:solidFill>
              </a:rPr>
              <a:t>Kafka + Structured Stream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080760" y="2313432"/>
            <a:ext cx="16002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D2B3E"/>
                </a:solidFill>
              </a:rPr>
              <a:t>100 msgs/90s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D2B3E"/>
                </a:solidFill>
              </a:rPr>
              <a:t>&lt;0.5s latency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7863840" y="1965960"/>
            <a:ext cx="178308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7863840" y="1965960"/>
            <a:ext cx="64008" cy="25603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001000" y="201168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5A82"/>
                </a:solidFill>
              </a:rPr>
              <a:t>Evaluation + Report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001000" y="2313432"/>
            <a:ext cx="16002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D2B3E"/>
                </a:solidFill>
              </a:rPr>
              <a:t>4 models compared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D2B3E"/>
                </a:solidFill>
              </a:rPr>
              <a:t>Scalability benchmark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82880" y="4663440"/>
            <a:ext cx="8778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4A7FA5"/>
                </a:solidFill>
              </a:rPr>
              <a:t>MapReduce Jobs: Word Count (72K tokens) + Bigram Frequency (top: 'hadaf daras' 11,624)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B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Stylometric Feature Engineering  (i=15, n=21)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274320" y="777240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A7FA5"/>
                </a:solidFill>
              </a:rPr>
              <a:t>Formula: f_(k×21+15) for k=0,1,2,3  →  Features at indices 15, 36, 57, 78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82880" y="1234440"/>
            <a:ext cx="420624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82880" y="1234440"/>
            <a:ext cx="502920" cy="14630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2880" y="1234440"/>
            <a:ext cx="502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f15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49808" y="1280160"/>
            <a:ext cx="3547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</a:rPr>
              <a:t>Word Length-Frequency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</a:rPr>
              <a:t>Distribution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49808" y="1737360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</a:rPr>
              <a:t>Human: 1.439   AI: 1.184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49808" y="2039112"/>
            <a:ext cx="3547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2B3E"/>
                </a:solidFill>
              </a:rPr>
              <a:t>Human text has wider word-length spread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82880" y="2834640"/>
            <a:ext cx="420624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82880" y="2834640"/>
            <a:ext cx="502920" cy="14630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82880" y="2834640"/>
            <a:ext cx="502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f36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49808" y="2880360"/>
            <a:ext cx="3547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</a:rPr>
              <a:t>Avg Sentences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</a:rPr>
              <a:t>per Paragraph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49808" y="3337560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</a:rPr>
              <a:t>Human: 9.504   AI: 8.576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49808" y="3639312"/>
            <a:ext cx="3547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2B3E"/>
                </a:solidFill>
              </a:rPr>
              <a:t>Human abstracts are structurally denser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63440" y="1234440"/>
            <a:ext cx="420624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1234440"/>
            <a:ext cx="502920" cy="14630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63440" y="1234440"/>
            <a:ext cx="502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f57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230368" y="1280160"/>
            <a:ext cx="3547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</a:rPr>
              <a:t>Top-50 Embedding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</a:rPr>
              <a:t>Words Count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230368" y="1737360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</a:rPr>
              <a:t>Human: 6.84   AI: 10.15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230368" y="2039112"/>
            <a:ext cx="3547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2B3E"/>
                </a:solidFill>
              </a:rPr>
              <a:t>AI overuses high-frequency vocabulary (+48%)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663440" y="2834640"/>
            <a:ext cx="420624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663440" y="2834640"/>
            <a:ext cx="502920" cy="14630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63440" y="2834640"/>
            <a:ext cx="502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f78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230368" y="2880360"/>
            <a:ext cx="3547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</a:rPr>
              <a:t>Perplexity Score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</a:rPr>
              <a:t>(entropy-based)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230368" y="3337560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</a:rPr>
              <a:t>Human: 5.789   AI: 5.497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230368" y="3639312"/>
            <a:ext cx="3547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2B3E"/>
                </a:solidFill>
              </a:rPr>
              <a:t>Human text is less predictable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82880" y="443484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7293"/>
                </a:solidFill>
              </a:rPr>
              <a:t>Advanced Feature: TF-IDF via Spark MLlib · HashingTF + IDF · 5,000 features · unigram+bigram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B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Model Performance Results</a:t>
            </a:r>
            <a:endParaRPr lang="en-US" sz="2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182880" y="777240"/>
          <a:ext cx="50292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94960" y="777240"/>
          <a:ext cx="3566160" cy="2194560"/>
        </p:xfrm>
        <a:graphic>
          <a:graphicData uri="http://schemas.openxmlformats.org/drawingml/2006/table">
            <a:tbl>
              <a:tblPr/>
              <a:tblGrid>
                <a:gridCol w="1463040"/>
                <a:gridCol w="704088"/>
                <a:gridCol w="704088"/>
                <a:gridCol w="694944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Model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Accuracy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F1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AUC-ROC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Logistic Reg. ★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96.70%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96.71%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99.05%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Linear SVM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95.97%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96.04%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98.33%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Random Forest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79.80%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70.84%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94.72%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FFNN (MLP)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TBD*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TBD*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TBD*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5394960" y="306324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4A7FA5"/>
                </a:solidFill>
              </a:rPr>
              <a:t>★ Best model — saved to HDFS for deployment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5394960" y="333756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4A7FA5"/>
                </a:solidFill>
              </a:rPr>
              <a:t>* FFNN (MLP) training in progress at submission time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82880" y="4206240"/>
            <a:ext cx="8778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2B3E"/>
                </a:solidFill>
              </a:rPr>
              <a:t>RF failure: predicts all samples as 'human' due to class imbalance + sparse TF-IDF — future fix: class weighting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B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Feature Importance &amp; Vocabulary Analysis</a:t>
            </a:r>
            <a:endParaRPr lang="en-US" sz="2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182880" y="777240"/>
          <a:ext cx="484632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5212080" y="777240"/>
          <a:ext cx="374904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/>
          <p:nvPr/>
        </p:nvSpPr>
        <p:spPr>
          <a:xfrm>
            <a:off x="182880" y="3840480"/>
            <a:ext cx="8778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2B3E"/>
                </a:solidFill>
              </a:rPr>
              <a:t>Key insight: f57 (Top-50 Embedding Words) is the #1 stylometric predictor — AI texts use 48% more high-frequency words than human texts.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B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Scalability Benchmark &amp; Stream Processing</a:t>
            </a:r>
            <a:endParaRPr lang="en-US" sz="2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182880" y="777240"/>
          <a:ext cx="411480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4572000" y="868680"/>
            <a:ext cx="2011680" cy="10972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0" y="941832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3.73x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4572000" y="15270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Speedup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1→2 Cores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766560" y="868680"/>
            <a:ext cx="2011680" cy="1097280"/>
          </a:xfrm>
          <a:prstGeom prst="rect">
            <a:avLst/>
          </a:prstGeom>
          <a:solidFill>
            <a:srgbClr val="01C39A"/>
          </a:solidFill>
          <a:ln w="12700">
            <a:solidFill>
              <a:srgbClr val="01C39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766560" y="941832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4.24x</a:t>
            </a:r>
            <a:endParaRPr lang="en-US" sz="3400" dirty="0"/>
          </a:p>
        </p:txBody>
      </p:sp>
      <p:sp>
        <p:nvSpPr>
          <p:cNvPr id="10" name="Text 7"/>
          <p:cNvSpPr/>
          <p:nvPr/>
        </p:nvSpPr>
        <p:spPr>
          <a:xfrm>
            <a:off x="6766560" y="15270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Speedup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1→4 Cores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0" y="2148840"/>
            <a:ext cx="429768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72000" y="2148840"/>
            <a:ext cx="64008" cy="9144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709160" y="21945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</a:rPr>
              <a:t>Kafka Streaming Results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709160" y="249631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2B3E"/>
                </a:solidFill>
              </a:rPr>
              <a:t>100 messages processed in 90 seconds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D2B3E"/>
                </a:solidFill>
              </a:rPr>
              <a:t>Average latency: ~0.5s per micro-batch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D2B3E"/>
                </a:solidFill>
              </a:rPr>
              <a:t>Zero message loss across the full run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572000" y="3154680"/>
            <a:ext cx="429768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572000" y="3154680"/>
            <a:ext cx="64008" cy="9144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709160" y="32004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</a:rPr>
              <a:t>Batch vs. Stream Trade-off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4709160" y="350215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2B3E"/>
                </a:solidFill>
              </a:rPr>
              <a:t>Batch: full model accuracy, high throughput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D2B3E"/>
                </a:solidFill>
              </a:rPr>
              <a:t>Stream: real-time detection, simplified features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D2B3E"/>
                </a:solidFill>
              </a:rPr>
              <a:t>Lambda Architecture unifies both layers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182880" y="3749040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A7FA5"/>
                </a:solidFill>
              </a:rPr>
              <a:t>Diminishing returns at 4 cores suggests I/O bottleneck — consistent with single-node HDFS setup.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65A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21B2E"/>
          </a:solidFill>
          <a:ln w="12700">
            <a:solidFill>
              <a:srgbClr val="021B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Conclusions &amp; Future Work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320040" cy="32004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8046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85800" y="804672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96.7% accuracy + 99.0% AUC-ROC — Logistic Regression with TF-IDF + stylometric features is highly effective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74320" y="1554480"/>
            <a:ext cx="320040" cy="32004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5544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15544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f57 (Top-50 Embedding Words) is the strongest stylometric predictor — AI texts use 48% more common vocab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4320" y="2304288"/>
            <a:ext cx="320040" cy="32004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230428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" y="230428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Human Arabic text is consistently richer in TTR, length, and word-length variance than AI output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3054096"/>
            <a:ext cx="320040" cy="32004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4320" y="3054096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85800" y="3054096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4.24x speedup from 1→4 cores validates the distributed Spark architecture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74320" y="3803904"/>
            <a:ext cx="320040" cy="32004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" y="380390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85800" y="3803904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Kafka pipeline processes 100 real-time Arabic texts at sub-second latency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82880" y="4526280"/>
            <a:ext cx="8778240" cy="4572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82880" y="4526280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Future: Multi-node cluster · AraBERT fine-tuning · Class weighting for RF · Social media domain expansion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B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References &amp; Project Repository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274320" y="804672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D2B3E"/>
                </a:solidFill>
              </a:rPr>
              <a:t>[1] Al-Shaibani &amp; Ahmed (2025). The Arabic AI Fingerprint. arXiv:2505.23276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74320" y="1243584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D2B3E"/>
                </a:solidFill>
              </a:rPr>
              <a:t>[2] Mitchell et al. (2023). DetectGPT: Zero-Shot AI Text Detection. ICML 2023. arXiv:2301.11305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74320" y="1682496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D2B3E"/>
                </a:solidFill>
              </a:rPr>
              <a:t>[3] Meng et al. (2016). MLlib: Machine Learning in Apache Spark. JMLR 17(34). arXiv:1505.06807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2121408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D2B3E"/>
                </a:solidFill>
              </a:rPr>
              <a:t>[4] Kiran et al. (2015). Lambda Architecture for Big Data Processing. IEEE Big Data 2015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256032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D2B3E"/>
                </a:solidFill>
              </a:rPr>
              <a:t>[5] Kocaman &amp; Talby (2021). Spark NLP: NLU at Scale. Software Impacts. arXiv:2101.10848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74320" y="2999232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D2B3E"/>
                </a:solidFill>
              </a:rPr>
              <a:t>[6] Zaharia et al. (2012). Resilient Distributed Datasets. USENIX NSDI 2012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74320" y="3438144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D2B3E"/>
                </a:solidFill>
              </a:rPr>
              <a:t>[7] Kreps et al. (2011). Kafka: A Distributed Messaging System. NetDB @ SIGMOD 2011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3877056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D2B3E"/>
                </a:solidFill>
              </a:rPr>
              <a:t>[8] Kumarage et al. (2023). Stylometric Detection of AI-Generated Text. arXiv:2303.03697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74320" y="4315968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D2B3E"/>
                </a:solidFill>
              </a:rPr>
              <a:t>[9] Taghva et al. (2005). Arabic Stemming without a Root Dictionary. IEEE ITCC 2005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943600" y="804672"/>
            <a:ext cx="3017520" cy="2560320"/>
          </a:xfrm>
          <a:prstGeom prst="rect">
            <a:avLst/>
          </a:prstGeom>
          <a:solidFill>
            <a:srgbClr val="065A82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43600" y="86868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GitHub Repository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035040" y="1353312"/>
            <a:ext cx="2834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</a:rPr>
              <a:t>github.com/LailaAbdullah/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</a:rPr>
              <a:t>Arabic-AI-Detection-BigData-Pipeline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035040" y="2148840"/>
            <a:ext cx="2834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Environment: CentOS Linux · Spark 3.5.1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Hadoop 3.x (HDFS) · Kafka 3.7.0 · Python 3.12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943600" y="3474720"/>
            <a:ext cx="3017520" cy="14630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0" y="352044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Pipeline Files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035040" y="388620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src/data_acquisition.py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035040" y="4087368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src/preprocessing.py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035040" y="4288536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src/feature_engineering.py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035040" y="4489704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src/modeling.py  ·  src/ffnn_spark.py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035040" y="469087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src/streaming_pipeline.py  ·  src/kafka_producer.py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AI Text Detection Pipeline</dc:title>
  <dc:subject>PptxGenJS Presentation</dc:subject>
  <dc:creator>Laila Abdullah Al-Mohaymid</dc:creator>
  <cp:lastModifiedBy>Laila Abdullah Al-Mohaymid</cp:lastModifiedBy>
  <cp:revision>1</cp:revision>
  <dcterms:created xsi:type="dcterms:W3CDTF">2026-05-20T19:06:59Z</dcterms:created>
  <dcterms:modified xsi:type="dcterms:W3CDTF">2026-05-20T19:06:59Z</dcterms:modified>
</cp:coreProperties>
</file>